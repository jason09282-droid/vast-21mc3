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58" r:id="rId5"/>
    <p:sldId id="262" r:id="rId7"/>
    <p:sldId id="264" r:id="rId8"/>
    <p:sldId id="266" r:id="rId9"/>
    <p:sldId id="268" r:id="rId10"/>
    <p:sldId id="269" r:id="rId11"/>
    <p:sldId id="28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1" r:id="rId21"/>
    <p:sldId id="282" r:id="rId22"/>
    <p:sldId id="283" r:id="rId23"/>
    <p:sldId id="284" r:id="rId24"/>
    <p:sldId id="285" r:id="rId25"/>
    <p:sldId id="287" r:id="rId26"/>
    <p:sldId id="289" r:id="rId27"/>
    <p:sldId id="290" r:id="rId28"/>
    <p:sldId id="291" r:id="rId29"/>
    <p:sldId id="293" r:id="rId30"/>
    <p:sldId id="294" r:id="rId31"/>
    <p:sldId id="295" r:id="rId3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CC8E"/>
    <a:srgbClr val="CFB9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7"/>
        <p:guide pos="2861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2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0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84505" y="1701165"/>
            <a:ext cx="8175625" cy="1788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5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VAST Challenge 2021 MC3</a:t>
            </a:r>
            <a:endParaRPr lang="en-US" altLang="zh-CN" sz="5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ctr"/>
            <a:r>
              <a:rPr lang="zh-CN" altLang="en-US" sz="5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消息类型可视化分析</a:t>
            </a:r>
            <a:endParaRPr lang="zh-CN" altLang="en-US" sz="5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55465" y="3357245"/>
            <a:ext cx="4643755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——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数据可视化课题报告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44390" y="4364990"/>
            <a:ext cx="4088130" cy="1852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18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组成员：</a:t>
            </a:r>
            <a:endParaRPr lang="zh-CN" altLang="en-US" sz="18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楼昊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2302100119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统领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+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整合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+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优化</a:t>
            </a:r>
            <a:endParaRPr lang="zh-CN" altLang="en-US" sz="18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朱文杰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2302100120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和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zh-CN" altLang="en-US" sz="18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马均豪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2302100123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整合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+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写报告</a:t>
            </a:r>
            <a:endParaRPr lang="zh-CN" altLang="en-US" sz="18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黄克轩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2302100135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汇报演讲</a:t>
            </a:r>
            <a:endParaRPr lang="zh-CN" altLang="en-US" sz="18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潘永川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2302100110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  PPT+</a:t>
            </a:r>
            <a:r>
              <a:rPr lang="zh-CN" altLang="en-US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8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6309360"/>
            <a:ext cx="2679065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使用的工具：</a:t>
            </a:r>
            <a:r>
              <a:rPr lang="en-US" altLang="zh-CN" sz="1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Trae CN,auto</a:t>
            </a:r>
            <a:endParaRPr lang="en-US" altLang="zh-CN" sz="14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/>
          <p:nvPr/>
        </p:nvSpPr>
        <p:spPr>
          <a:xfrm>
            <a:off x="-2052955" y="2852420"/>
            <a:ext cx="4550410" cy="4410075"/>
          </a:xfrm>
          <a:prstGeom prst="ellipse">
            <a:avLst/>
          </a:prstGeom>
          <a:solidFill>
            <a:srgbClr val="DFCC8E"/>
          </a:solidFill>
          <a:ln>
            <a:solidFill>
              <a:srgbClr val="CFB97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1460" y="3716655"/>
            <a:ext cx="1497330" cy="230695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6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目录</a:t>
            </a:r>
            <a:endParaRPr lang="zh-CN" altLang="en-US" sz="6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87675" y="1482725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一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背景与问题</a:t>
            </a:r>
            <a:endParaRPr lang="zh-CN" altLang="en-US" sz="3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87675" y="2419350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二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挑战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：消息分类</a:t>
            </a:r>
            <a:endParaRPr lang="zh-CN" altLang="en-US" sz="3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87675" y="3355975"/>
            <a:ext cx="590931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三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挑战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：风险水平演变</a:t>
            </a:r>
            <a:endParaRPr lang="zh-CN" altLang="en-US" sz="3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87675" y="4292600"/>
            <a:ext cx="590931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四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挑战</a:t>
            </a:r>
            <a:r>
              <a:rPr lang="en-US" altLang="zh-CN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：派遣队伍</a:t>
            </a:r>
            <a:endParaRPr lang="zh-CN" altLang="en-US" sz="3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/>
      <p:bldP spid="4" grpId="1"/>
      <p:bldP spid="5" grpId="0"/>
      <p:bldP spid="5" grpId="1"/>
      <p:bldP spid="7" grpId="0"/>
      <p:bldP spid="7" grpId="1"/>
      <p:bldP spid="8" grpId="0"/>
      <p:bldP spid="8" grpId="1"/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椭圆 2"/>
          <p:cNvSpPr/>
          <p:nvPr/>
        </p:nvSpPr>
        <p:spPr>
          <a:xfrm>
            <a:off x="-4788535" y="2852420"/>
            <a:ext cx="4550410" cy="4410075"/>
          </a:xfrm>
          <a:prstGeom prst="ellipse">
            <a:avLst/>
          </a:prstGeom>
          <a:solidFill>
            <a:srgbClr val="000000">
              <a:alpha val="0"/>
            </a:srgbClr>
          </a:solidFill>
          <a:ln>
            <a:solidFill>
              <a:srgbClr val="CFB97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noFill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2268855" y="3789045"/>
            <a:ext cx="1497330" cy="230695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6600" b="1">
                <a:noFill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目录</a:t>
            </a:r>
            <a:endParaRPr lang="zh-CN" altLang="en-US" sz="6600" b="1"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0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一</a:t>
            </a:r>
            <a:r>
              <a:rPr lang="en-US" alt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背景与问题</a:t>
            </a:r>
            <a:endParaRPr lang="zh-CN" altLang="en-US" sz="32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683760" y="638175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71775" y="6345555"/>
            <a:ext cx="810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背景</a:t>
            </a:r>
            <a:endParaRPr lang="zh-CN" altLang="en-US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0380" y="638175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4" name="图片 13" descr="图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880" y="692785"/>
            <a:ext cx="4460875" cy="22606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83260" y="3069590"/>
            <a:ext cx="7726045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背景：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2014年1月23日，阿比拉发生了多起事件。你被要求基于有限的信息进行回顾性分析。你的目标是识别风险，以及这些风险本可以如何更有效地缓解。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3260" y="4221480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数据：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被自动过滤器识别为可能与正在发生的事件相关的微型博客记录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阿比拉、克罗诺斯地方警察和消防部门紧急调度的文字记录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阿比拉的地图和背景资料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36010" y="638175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77000" y="6381115"/>
            <a:ext cx="641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背景</a:t>
            </a:r>
            <a:endParaRPr lang="zh-CN" altLang="en-US" sz="1600">
              <a:solidFill>
                <a:schemeClr val="bg1">
                  <a:alpha val="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4" grpId="1"/>
      <p:bldP spid="5" grpId="1"/>
      <p:bldP spid="18" grpId="0"/>
      <p:bldP spid="1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95605" y="0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一</a:t>
            </a:r>
            <a:r>
              <a:rPr lang="en-US" alt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背景与问题</a:t>
            </a:r>
            <a:endParaRPr lang="zh-CN" altLang="en-US" sz="32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819525" y="638175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07540" y="6345555"/>
            <a:ext cx="810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背景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16145" y="638175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3260" y="908685"/>
            <a:ext cx="7726045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背景：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2014年1月23日，阿比拉发生了多起事件。你被要求基于有限的信息进行回顾性分析。你的目标是识别风险，以及这些风险本可以如何更有效地缓解。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3260" y="206057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数据：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被自动过滤器识别为可能与正在发生的事件相关的微型博客记录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阿比拉、克罗诺斯地方警察和消防部门紧急调度的文字记录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阿比拉的地图和背景资料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71775" y="6343015"/>
            <a:ext cx="854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23890" y="6381115"/>
            <a:ext cx="641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背景</a:t>
            </a:r>
            <a:endParaRPr lang="zh-CN" altLang="en-US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260" y="377126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16370" y="6374765"/>
            <a:ext cx="724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600">
              <a:solidFill>
                <a:schemeClr val="bg1">
                  <a:alpha val="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144000" y="377126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利用可视化分析来表现和评估公众风险水平在当晚的演变。考虑这种情况可能带来的后果以及可能受影响的人数。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95605" y="0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一</a:t>
            </a:r>
            <a:r>
              <a:rPr lang="en-US" alt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背景与问题</a:t>
            </a:r>
            <a:endParaRPr lang="zh-CN" altLang="en-US" sz="32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797175" y="6350000"/>
            <a:ext cx="8966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07540" y="6345555"/>
            <a:ext cx="8102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背景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772535" y="6388100"/>
            <a:ext cx="807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3260" y="908685"/>
            <a:ext cx="7726045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背景：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2014年1月23日，阿比拉发生了多起事件。你被要求基于有限的信息进行回顾性分析。你的目标是识别风险，以及这些风险本可以如何更有效地缓解。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3260" y="206057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数据：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被自动过滤器识别为可能与正在发生的事件相关的微型博客记录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阿比拉、克罗诺斯地方警察和消防部门紧急调度的文字记录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阿比拉的地图和背景资料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28165" y="6349365"/>
            <a:ext cx="854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2000" b="1">
              <a:solidFill>
                <a:schemeClr val="bg1">
                  <a:alpha val="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80280" y="6387465"/>
            <a:ext cx="641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背景</a:t>
            </a:r>
            <a:endParaRPr lang="zh-CN" altLang="en-US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777748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利用可视化分析，描述数据集中不同类型的内容。有意义的事件报告与普通聊天、垃圾信息、垃圾信息有什么区别？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72760" y="6381115"/>
            <a:ext cx="724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风险水平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在当晚的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演变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。考虑这种情况可能带来的后果以及可能受影响的人数。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4400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如果你能派一支第一响应者团队去任何一个地方，你会去哪里？请说明你的理由。如果你必须实时回应事件，而不是事后回应，你的反应会有什么不同？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48425" y="6377940"/>
            <a:ext cx="724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600">
              <a:solidFill>
                <a:schemeClr val="bg1">
                  <a:alpha val="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95605" y="0"/>
            <a:ext cx="493649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一</a:t>
            </a:r>
            <a:r>
              <a:rPr lang="en-US" alt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背景与问题</a:t>
            </a:r>
            <a:endParaRPr lang="zh-CN" altLang="en-US" sz="32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856740" y="6350000"/>
            <a:ext cx="8966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2000" b="1">
              <a:solidFill>
                <a:schemeClr val="bg1">
                  <a:alpha val="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31465" y="6350000"/>
            <a:ext cx="857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3260" y="908685"/>
            <a:ext cx="7726045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背景：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2014年1月23日，阿比拉发生了多起事件。你被要求基于有限的信息进行回顾性分析。你的目标是识别风险，以及这些风险本可以如何更有效地缓解。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3260" y="206057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数据：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被自动过滤器识别为可能与正在发生的事件相关的微型博客记录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阿比拉、克罗诺斯地方警察和消防部门紧急调度的文字记录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阿比拉的地图和背景资料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39845" y="6387465"/>
            <a:ext cx="641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背景</a:t>
            </a:r>
            <a:endParaRPr lang="zh-CN" altLang="en-US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32325" y="6381115"/>
            <a:ext cx="724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777748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利用可视化分析来表现和评估公众风险水平在当晚的演变。考虑这种情况可能带来的后果以及可能受影响的人数。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如果你能派一支第一响应者团队去任何一个地方，你会去哪里？请说明你的理由。如果你必须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实时回应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事件，而不是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事后回应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，你的反应会有什么不同？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07990" y="6377940"/>
            <a:ext cx="724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43980" y="6390640"/>
            <a:ext cx="7245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600">
              <a:solidFill>
                <a:schemeClr val="bg1">
                  <a:alpha val="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763395" y="6350000"/>
            <a:ext cx="857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2000" b="1">
              <a:solidFill>
                <a:schemeClr val="bg1">
                  <a:alpha val="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777748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利用可视化分析来表现和评估公众风险水平在当晚的演变。考虑这种情况可能带来的后果以及可能受影响的人数。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0560" y="285305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2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644265" y="2060575"/>
            <a:ext cx="1855470" cy="67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4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问题一</a:t>
            </a:r>
            <a:endParaRPr lang="zh-CN" altLang="en-US" sz="4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763395" y="6350000"/>
            <a:ext cx="857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2000" b="1">
              <a:solidFill>
                <a:schemeClr val="bg1">
                  <a:alpha val="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777748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利用可视化分析来表现和评估公众风险水平在当晚的演变。考虑这种情况可能带来的后果以及可能受影响的人数。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2" name="图片 11" descr="task1_fig1_content_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710" y="1628775"/>
            <a:ext cx="4168775" cy="412813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55650" y="1700530"/>
            <a:ext cx="3250565" cy="1800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数量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占比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由内容类型分布饼图可知：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占比最高，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事件报告与其他类型占比相近，聊天占比最低。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164070" y="5085080"/>
            <a:ext cx="1383030" cy="674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777748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利用可视化分析来表现和评估公众风险水平在当晚的演变。考虑这种情况可能带来的后果以及可能受影响的人数。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380605" y="4149090"/>
            <a:ext cx="1383030" cy="674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2" name="图片 1" descr="task1_fig2_msg_lengt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" y="1484630"/>
            <a:ext cx="4380865" cy="2612390"/>
          </a:xfrm>
          <a:prstGeom prst="rect">
            <a:avLst/>
          </a:prstGeom>
        </p:spPr>
      </p:pic>
      <p:pic>
        <p:nvPicPr>
          <p:cNvPr id="5" name="图片 4" descr="task1_fig6_length_box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1483360"/>
            <a:ext cx="4384040" cy="26136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3260" y="4653280"/>
            <a:ext cx="7847965" cy="1217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信息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篇幅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结合图2、图6可见，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不仅平均文本长度最长，长度离散程度也最大，文本格式杂乱；事件报告平均长度次之，篇幅分布集中稳定；聊天类消息字符数最少，长度波动极小。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777748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利用可视化分析来表现和评估公众风险水平在当晚的演变。考虑这种情况可能带来的后果以及可能受影响的人数。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1" name="图片 10" descr="task1_fig3_hashta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369695"/>
            <a:ext cx="5798185" cy="34544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723890" y="1628775"/>
            <a:ext cx="1383030" cy="674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260" y="4869180"/>
            <a:ext cx="7847965" cy="1217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标签使用率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标签使用率柱状图显示，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大量使用话题标签用于引流，其余三类内容标签使用频次普遍偏低，聊天最低。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task1_fig4_time_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412875"/>
            <a:ext cx="6979920" cy="3458845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777748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利用可视化分析来表现和评估公众风险水平在当晚的演变。考虑这种情况可能带来的后果以及可能受影响的人数。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516370" y="2132965"/>
            <a:ext cx="1383030" cy="674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  <a:endParaRPr lang="zh-CN" altLang="en-US" sz="9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260" y="4940935"/>
            <a:ext cx="7847965" cy="1217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时序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时序折线图体现出明显差异：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呈脉冲式爆发，集中在特定时段出现峰值，和突发事件高度关联；垃圾信息、闲聊、其他内容全天发布节奏平稳。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777748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利用可视化分析来表现和评估公众风险水平在当晚的演变。考虑这种情况可能带来的后果以及可能受影响的人数。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395210" y="4047490"/>
            <a:ext cx="1383030" cy="674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260" y="4940935"/>
            <a:ext cx="7847965" cy="1217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作者存在率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：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作者存在率柱状图表明，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存在匿名发布现象，作者留存率偏低，另外三类消息基本均标注完整作者信息。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5" name="图片 4" descr="task1_fig5_author_prese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620" y="1396365"/>
            <a:ext cx="5643880" cy="33655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777748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利用可视化分析来表现和评估公众风险水平在当晚的演变。考虑这种情况可能带来的后果以及可能受影响的人数。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395210" y="4047490"/>
            <a:ext cx="1383030" cy="893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Spam--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Even Report--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Chat--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Other--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其他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ccdata--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官方</a:t>
            </a:r>
            <a:endParaRPr lang="en-US" altLang="zh-CN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en-US" altLang="zh-CN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mbdata--</a:t>
            </a:r>
            <a:r>
              <a:rPr lang="zh-CN" altLang="en-US" sz="9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非官方</a:t>
            </a:r>
            <a:endParaRPr lang="zh-CN" altLang="en-US" sz="9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260" y="5013325"/>
            <a:ext cx="7847965" cy="970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数据源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与内容的关联：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官方调度数据源</a:t>
            </a:r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ccdata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仅产生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，是应急信息专属渠道；社交数据源</a:t>
            </a:r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mbdata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混杂全部四类消息，信息复杂度高。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2" name="图片 1" descr="task1_fig7_source_typ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1330960"/>
            <a:ext cx="6049645" cy="36036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777748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利用可视化分析来表现和评估公众风险水平在当晚的演变。考虑这种情况可能带来的后果以及可能受影响的人数。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260" y="4940935"/>
            <a:ext cx="7847965" cy="970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词汇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对比：</a:t>
            </a:r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(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</a:t>
            </a:r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vs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</a:t>
            </a:r>
            <a:r>
              <a:rPr lang="en-US" altLang="zh-CN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)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事件报告高频词以火情、警务、集会等应急相关词汇为主，偏向事件纪实；垃圾信息则以营销、推广类词汇为主，商业引流属性显著。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5" name="图片 4" descr="task1_fig8_word_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1379220"/>
            <a:ext cx="8219440" cy="35064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350000"/>
            <a:ext cx="928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7777480" y="3789045"/>
            <a:ext cx="7791450" cy="136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利用可视化分析来表现和评估公众风险水平在当晚的演变。考虑这种情况可能带来的后果以及可能受影响的人数。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260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6745" y="1557020"/>
            <a:ext cx="7847965" cy="2357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问题一</a:t>
            </a:r>
            <a:r>
              <a:rPr lang="zh-CN" altLang="en-US" sz="20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总结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四类消息特征区分度极高。</a:t>
            </a:r>
            <a:endParaRPr lang="zh-CN" altLang="en-US" sz="2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事件报告依托官方渠道、随突发事件集中发布、用词贴合应急场景，存在匿名发布情况；</a:t>
            </a:r>
            <a:endParaRPr lang="zh-CN" altLang="en-US" sz="2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垃圾信息文本冗长、滥用标签、营销语义突出，全天候均匀发布；</a:t>
            </a:r>
            <a:endParaRPr lang="zh-CN" altLang="en-US" sz="2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闲聊内容简短、发布平稳、体量最少；</a:t>
            </a:r>
            <a:endParaRPr lang="zh-CN" altLang="en-US" sz="2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4.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其余内容各项特征介于中间水平。</a:t>
            </a:r>
            <a:endParaRPr lang="zh-CN" altLang="en-US" sz="2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11955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44000" y="2853055"/>
            <a:ext cx="7836535" cy="1176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24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24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134215" y="2060575"/>
            <a:ext cx="1855470" cy="67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4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问题二</a:t>
            </a:r>
            <a:endParaRPr lang="zh-CN" altLang="en-US" sz="4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7813675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7870190" y="1557020"/>
            <a:ext cx="7847965" cy="2357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问题一</a:t>
            </a:r>
            <a:r>
              <a:rPr lang="zh-CN" altLang="en-US" sz="20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总结</a:t>
            </a: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四类消息特征区分度极高。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事件报告依托官方渠道、随突发事件集中发布、用词贴合应急场景，存在匿名发布情况；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垃圾信息文本冗长、滥用标签、营销语义突出，全天候均匀发布；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闲聊内容简短、发布平稳、体量最少；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4.</a:t>
            </a: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其余内容各项特征介于中间水平。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1980" y="2853055"/>
            <a:ext cx="7836535" cy="1176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2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2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92195" y="2060575"/>
            <a:ext cx="1855470" cy="67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4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问题二</a:t>
            </a:r>
            <a:endParaRPr lang="zh-CN" altLang="en-US" sz="4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7813675" y="692785"/>
            <a:ext cx="779145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利用可视化分析，描述数据集中</a:t>
            </a:r>
            <a:r>
              <a:rPr lang="zh-CN" altLang="en-US" sz="18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不同类型的信息</a:t>
            </a:r>
            <a:r>
              <a:rPr lang="zh-CN" altLang="en-US" sz="18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。有意义的事件报告与普通聊天、垃圾信息、其他信息有什么区别？</a:t>
            </a:r>
            <a:endParaRPr lang="zh-CN" altLang="en-US" sz="18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7870190" y="1557020"/>
            <a:ext cx="7847965" cy="2357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问题一</a:t>
            </a:r>
            <a:r>
              <a:rPr lang="zh-CN" altLang="en-US" sz="20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总结</a:t>
            </a: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四类消息特征区分度极高。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1.</a:t>
            </a: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事件报告依托官方渠道、随突发事件集中发布、用词贴合应急场景，存在匿名发布情况；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2.</a:t>
            </a: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垃圾信息文本冗长、滥用标签、营销语义突出，全天候均匀发布；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3.</a:t>
            </a: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闲聊内容简短、发布平稳、体量最少；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4.</a:t>
            </a: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其余内容各项特征介于中间水平。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2" name="图片 11" descr="图1_风险水平演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720" y="917575"/>
            <a:ext cx="5354320" cy="26612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89255" y="1196975"/>
            <a:ext cx="2958465" cy="4815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公共</a:t>
            </a:r>
            <a:r>
              <a:rPr lang="zh-CN" altLang="en-US" sz="1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风险水平演变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①17:00-18:30，平均风险维持在0-1区间，最高风险出现数次小幅波动（峰值约4），主要由</a:t>
            </a:r>
            <a:r>
              <a:rPr lang="en-US" altLang="zh-CN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POK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集会和零星火灾事件驱动，处于风险</a:t>
            </a:r>
            <a:r>
              <a:rPr lang="zh-CN" altLang="en-US" sz="1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酝酿期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②18:30起火灾事件急剧增加，风险分数从3快速攀升至4.5，标志着"火灾爆发"阶段的开始，进入风险</a:t>
            </a:r>
            <a:r>
              <a:rPr lang="zh-CN" altLang="en-US" sz="1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攀升期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③19:30-21:30，风险进入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红色警戒区域，先后爆发人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质危机、特警行动、枪击事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件和爆炸事件，最高风险持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续维持在4-5.5高位，处于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高危集中期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。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④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各类型高风险事件在时间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上存在</a:t>
            </a:r>
            <a:r>
              <a:rPr lang="zh-CN" altLang="en-US" sz="1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叠加效应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，火灾与人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质危机、枪击与爆炸事件先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后发生，形成复合型危机态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势。</a:t>
            </a: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endParaRPr lang="zh-CN" altLang="en-US" sz="1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3" name="图片 2" descr="图2_事件类型时间线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75" y="3644900"/>
            <a:ext cx="6014720" cy="2613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3260" y="2449830"/>
            <a:ext cx="3465195" cy="3911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18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类型、风险、时间分析</a:t>
            </a: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①火灾事件数量最多，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累积超过500起，持续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时间最长，风险峰等级高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②人质事件风险等级高，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持续时间超过2小时，与特警行动时段高度重合。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③枪击事件和爆炸事件虽持续时间较短，但突发性强，风险等级最高，表明暴力程度升级。</a:t>
            </a:r>
            <a:endParaRPr lang="zh-CN" altLang="en-US" sz="1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4" name="图片 3" descr="图6_事件风险热力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210" y="3646805"/>
            <a:ext cx="4281170" cy="2668905"/>
          </a:xfrm>
          <a:prstGeom prst="rect">
            <a:avLst/>
          </a:prstGeom>
        </p:spPr>
      </p:pic>
      <p:pic>
        <p:nvPicPr>
          <p:cNvPr id="9" name="图片 8" descr="图8_高风险事件累积曲线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110" y="908685"/>
            <a:ext cx="5512435" cy="2738120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2995930" y="3143250"/>
            <a:ext cx="1576705" cy="107759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55650" y="5300980"/>
            <a:ext cx="7791450" cy="1096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消息量与风险关联性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消息量与风险水平呈现显著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正相关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，19:30-20:00消息量达到峰值，对应最高风险攀升至5.0。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3" name="图片 2" descr="图3_消息量与风险关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95" y="1268730"/>
            <a:ext cx="6258560" cy="3897630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H="1" flipV="1">
            <a:off x="5292090" y="1484630"/>
            <a:ext cx="568960" cy="411607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1422400" y="3429000"/>
            <a:ext cx="3725545" cy="24257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1850" y="4580890"/>
            <a:ext cx="7791450" cy="1096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后果评估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①火灾事件累积数量大，可能导致大规模财产损失和人员伤亡。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②人质危机持续时间长，涉及警方与劫持者对峙，存在人质生命安全风险。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③枪击和爆炸事件表明暴力升级，可能引发公众恐慌，受影响人群范围广。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4" name="图片 3" descr="图7_各阶段受影响人数估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1340485"/>
            <a:ext cx="6122035" cy="3040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30675" y="6361430"/>
            <a:ext cx="823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80380" y="6453505"/>
            <a:ext cx="72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6430" y="1988820"/>
            <a:ext cx="7791450" cy="3432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总结：</a:t>
            </a:r>
            <a:endParaRPr lang="zh-CN" altLang="en-US" sz="2000" b="1"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本次突发事件具备突发性、传播性强的特点，易引发人身安全隐患、局部秩序紊乱等一系列问题。当晚19:30-21:00为风险最为严峻的时段，多种高风险事件叠加爆发，形成"火灾+人质+枪击+爆炸"的复合型危机。城区大多数居民受到波及，人流密集区域、事发周边地带受影响程度最深。整体而言，当晚公众风险随应急事件的发展同步起伏，多类可视化数据相互印证，完整还原了风险演变全过程，也直观体现出信息混杂给应急处置带来的额外挑战。</a:t>
            </a:r>
            <a:endParaRPr lang="zh-CN" altLang="en-US" sz="2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44000" y="2853055"/>
            <a:ext cx="7836535" cy="1176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24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24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24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24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134215" y="2060575"/>
            <a:ext cx="1855470" cy="67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4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问题二</a:t>
            </a:r>
            <a:endParaRPr lang="zh-CN" altLang="en-US" sz="4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791972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16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6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2000" b="1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-7956550" y="1988820"/>
            <a:ext cx="7791450" cy="3432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总结：</a:t>
            </a:r>
            <a:endParaRPr lang="zh-CN" altLang="en-US" sz="2000" b="1">
              <a:solidFill>
                <a:srgbClr val="FFC000">
                  <a:alpha val="0"/>
                </a:srgb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本次突发事件具备突发性、传播性强的特点，易引发人身安全隐患、局部秩序紊乱等一系列问题。当晚19:30-21:00为风险最为严峻的时段，多种高风险事件叠加爆发，形成"火灾+人质+枪击+爆炸"的复合型危机。城区大多数居民受到波及，人流密集区域、事发周边地带受影响程度最深。整体而言，当晚公众风险随应急事件的发展同步起伏，多类可视化数据相互印证，完整还原了风险演变全过程，也直观体现出信息混杂给应急处置带来的额外挑战。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505" y="2853055"/>
            <a:ext cx="7836535" cy="1176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如果你能派一支第一响应者团队去任何一个地方，你会去哪里？请说明你的理由。如果你必须</a:t>
            </a:r>
            <a:r>
              <a:rPr lang="zh-CN" altLang="en-US" sz="2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实时回应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事件，而不是</a:t>
            </a:r>
            <a:r>
              <a:rPr lang="zh-CN" altLang="en-US" sz="24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事后回应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，你的反应会有什么不同？</a:t>
            </a:r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/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/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/>
            <a:endParaRPr lang="zh-CN" altLang="en-US" sz="24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601720" y="2060575"/>
            <a:ext cx="1855470" cy="67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4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问题三</a:t>
            </a:r>
            <a:endParaRPr lang="zh-CN" altLang="en-US" sz="4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9795" y="3573145"/>
            <a:ext cx="1456690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事后派驻</a:t>
            </a:r>
            <a:endParaRPr lang="zh-CN" altLang="en-US" sz="2400" b="1">
              <a:solidFill>
                <a:srgbClr val="FFC000">
                  <a:alpha val="0"/>
                </a:srgb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791972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16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6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2000" b="1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-7956550" y="1988820"/>
            <a:ext cx="7791450" cy="3432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总结：</a:t>
            </a:r>
            <a:endParaRPr lang="zh-CN" altLang="en-US" sz="2000" b="1">
              <a:solidFill>
                <a:srgbClr val="FFC000">
                  <a:alpha val="0"/>
                </a:srgb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本次突发事件具备突发性、传播性强的特点，易引发人身安全隐患、局部秩序紊乱等一系列问题。当晚19:30-21:00为风险最为严峻的时段，多种高风险事件叠加爆发，形成"火灾+人质+枪击+爆炸"的复合型危机。城区大多数居民受到波及，人流密集区域、事发周边地带受影响程度最深。整体而言，当晚公众风险随应急事件的发展同步起伏，多类可视化数据相互印证，完整还原了风险演变全过程，也直观体现出信息混杂给应急处置带来的额外挑战。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32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事后派驻</a:t>
            </a:r>
            <a:endParaRPr lang="zh-CN" altLang="en-US" sz="3200" b="1"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66165" y="4869180"/>
            <a:ext cx="7047865" cy="1447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选址决策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：优先派往经度24.85-24.86、纬度36.06附近的中西部聚类区域。理由： 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①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综合风险高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：全天汇总图里这里总事件65、平均风险2.2，是全城风险最集中、单事件风险最高的片区。 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2" name="图片 11" descr="事件地点散点热力图"/>
          <p:cNvPicPr>
            <a:picLocks noChangeAspect="1"/>
          </p:cNvPicPr>
          <p:nvPr/>
        </p:nvPicPr>
        <p:blipFill>
          <a:blip r:embed="rId2"/>
          <a:srcRect r="8416"/>
          <a:stretch>
            <a:fillRect/>
          </a:stretch>
        </p:blipFill>
        <p:spPr>
          <a:xfrm>
            <a:off x="1362075" y="836930"/>
            <a:ext cx="6419215" cy="3952875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 flipH="1" flipV="1">
            <a:off x="3851910" y="3717290"/>
            <a:ext cx="144145" cy="12236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791972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16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6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2000" b="1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-7956550" y="1988820"/>
            <a:ext cx="7791450" cy="3432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总结：</a:t>
            </a:r>
            <a:endParaRPr lang="zh-CN" altLang="en-US" sz="2000" b="1">
              <a:solidFill>
                <a:srgbClr val="FFC000">
                  <a:alpha val="0"/>
                </a:srgb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20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本次突发事件具备突发性、传播性强的特点，易引发人身安全隐患、局部秩序紊乱等一系列问题。当晚19:30-21:00为风险最为严峻的时段，多种高风险事件叠加爆发，形成"火灾+人质+枪击+爆炸"的复合型危机。城区大多数居民受到波及，人流密集区域、事发周边地带受影响程度最深。整体而言，当晚公众风险随应急事件的发展同步起伏，多类可视化数据相互印证，完整还原了风险演变全过程，也直观体现出信息混杂给应急处置带来的额外挑战。</a:t>
            </a:r>
            <a:endParaRPr lang="zh-CN" altLang="en-US" sz="20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32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事后派驻</a:t>
            </a:r>
            <a:endParaRPr lang="zh-CN" altLang="en-US" sz="3200" b="1"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pic>
        <p:nvPicPr>
          <p:cNvPr id="7" name="图片 6" descr="18点以前事件地点热力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15" y="620395"/>
            <a:ext cx="4679528" cy="2638958"/>
          </a:xfrm>
          <a:prstGeom prst="rect">
            <a:avLst/>
          </a:prstGeom>
        </p:spPr>
      </p:pic>
      <p:pic>
        <p:nvPicPr>
          <p:cNvPr id="4" name="图片 3" descr="19点半-21点事件地点热力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710" y="620395"/>
            <a:ext cx="4680645" cy="263895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5605" y="3421380"/>
            <a:ext cx="3954780" cy="3158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选址决策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：优先派往经度24.85-24.86、纬度36.06附近的中西部聚类区域。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理由： 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②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趋势预判匹配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：折线图显示19:</a:t>
            </a:r>
            <a:r>
              <a:rPr lang="en-US" altLang="zh-CN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3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0后总风险值陡拉至峰值，该片区正是本轮风险飙升的核心源头，提前布防能拦截绝大多数高风险事件。 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③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风险增长幅度最大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：18:00前该片区仅14起事件、总风险10.0，后续风险量级暴涨，是风险增量最突出的区域，提前派驻能最大化降低后续整体损失。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2" name="图片 11" descr="图1_风险水平演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55" y="3357245"/>
            <a:ext cx="5169535" cy="2568575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3707765" y="4293235"/>
            <a:ext cx="3384550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791972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16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6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2000" b="1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2268855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32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事后派驻</a:t>
            </a:r>
            <a:endParaRPr lang="zh-CN" altLang="en-US" sz="3200" b="1">
              <a:solidFill>
                <a:srgbClr val="FFC000">
                  <a:alpha val="0"/>
                </a:srgb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pic>
        <p:nvPicPr>
          <p:cNvPr id="7" name="图片 6" descr="18点以前事件地点热力图"/>
          <p:cNvPicPr>
            <a:picLocks noChangeAspect="1"/>
          </p:cNvPicPr>
          <p:nvPr/>
        </p:nvPicPr>
        <p:blipFill>
          <a:blip r:embed="rId2"/>
          <a:srcRect r="6752" b="-123"/>
          <a:stretch>
            <a:fillRect/>
          </a:stretch>
        </p:blipFill>
        <p:spPr>
          <a:xfrm>
            <a:off x="1907540" y="654050"/>
            <a:ext cx="5369560" cy="32518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560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32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实时响应</a:t>
            </a:r>
            <a:endParaRPr lang="zh-CN" altLang="en-US" sz="3200" b="1"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35785" y="116840"/>
            <a:ext cx="5832475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18:00    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本作答中取三个时间点</a:t>
            </a:r>
            <a:endParaRPr lang="zh-CN" altLang="en-US" sz="2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15695" y="5788025"/>
            <a:ext cx="7229475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18:00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决策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：东西两片风险平稳偏低，可分少量人力兼顾两片常规点位。</a:t>
            </a:r>
            <a:endParaRPr lang="en-US" altLang="zh-CN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7" name="图片 14" descr="newplot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50" y="3942715"/>
            <a:ext cx="6551295" cy="1790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7919720" y="620395"/>
            <a:ext cx="7940040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利用可视化分析来表现和评估公众</a:t>
            </a:r>
            <a:r>
              <a:rPr lang="zh-CN" altLang="en-US" sz="16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风险水平</a:t>
            </a:r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在当晚的</a:t>
            </a:r>
            <a:r>
              <a:rPr lang="zh-CN" altLang="en-US" sz="16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演变</a:t>
            </a:r>
            <a:r>
              <a:rPr lang="zh-CN" altLang="en-US" sz="1600" b="1"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。考虑这种情况可能带来的后果以及可能受影响的人数。</a:t>
            </a:r>
            <a:endParaRPr lang="zh-CN" altLang="en-US" sz="1600" b="1">
              <a:solidFill>
                <a:schemeClr val="bg1">
                  <a:alpha val="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6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2000" b="1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2268855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3200" b="1">
                <a:solidFill>
                  <a:srgbClr val="FFC000">
                    <a:alpha val="0"/>
                  </a:srgb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事后派驻</a:t>
            </a:r>
            <a:endParaRPr lang="zh-CN" altLang="en-US" sz="3200" b="1">
              <a:solidFill>
                <a:srgbClr val="FFC000">
                  <a:alpha val="0"/>
                </a:srgb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pic>
        <p:nvPicPr>
          <p:cNvPr id="7" name="图片 6" descr="18点以前事件地点热力图"/>
          <p:cNvPicPr>
            <a:picLocks noChangeAspect="1"/>
          </p:cNvPicPr>
          <p:nvPr/>
        </p:nvPicPr>
        <p:blipFill>
          <a:blip r:embed="rId2">
            <a:alphaModFix amt="0"/>
          </a:blip>
          <a:srcRect r="6752" b="-123"/>
          <a:stretch>
            <a:fillRect/>
          </a:stretch>
        </p:blipFill>
        <p:spPr>
          <a:xfrm>
            <a:off x="-5436870" y="654050"/>
            <a:ext cx="5369560" cy="32518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560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32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实时响应</a:t>
            </a:r>
            <a:endParaRPr lang="zh-CN" altLang="en-US" sz="3200" b="1"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35785" y="116840"/>
            <a:ext cx="180213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19:30</a:t>
            </a:r>
            <a:endParaRPr lang="en-US" altLang="zh-CN" sz="2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15695" y="5788025"/>
            <a:ext cx="7229475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19:30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决策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：东部片区风险开始抬升，逐步增派力量向该区域倾斜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7" name="图片 14" descr="newplot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50" y="3942715"/>
            <a:ext cx="6551295" cy="1790700"/>
          </a:xfrm>
          <a:prstGeom prst="rect">
            <a:avLst/>
          </a:prstGeom>
        </p:spPr>
      </p:pic>
      <p:pic>
        <p:nvPicPr>
          <p:cNvPr id="4" name="图片 3" descr="18点-19点半事件地点热力图"/>
          <p:cNvPicPr>
            <a:picLocks noChangeAspect="1"/>
          </p:cNvPicPr>
          <p:nvPr/>
        </p:nvPicPr>
        <p:blipFill>
          <a:blip r:embed="rId4"/>
          <a:srcRect r="7669"/>
          <a:stretch>
            <a:fillRect/>
          </a:stretch>
        </p:blipFill>
        <p:spPr>
          <a:xfrm>
            <a:off x="1906905" y="648335"/>
            <a:ext cx="5328920" cy="325501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2762250" y="3068955"/>
            <a:ext cx="2961640" cy="27857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10" name="直接连接符 9"/>
          <p:cNvCxnSpPr/>
          <p:nvPr/>
        </p:nvCxnSpPr>
        <p:spPr>
          <a:xfrm flipV="1">
            <a:off x="2771775" y="6741795"/>
            <a:ext cx="3600000" cy="2540"/>
          </a:xfrm>
          <a:prstGeom prst="line">
            <a:avLst/>
          </a:prstGeom>
          <a:ln w="28575" cmpd="sng">
            <a:solidFill>
              <a:schemeClr val="bg1">
                <a:alpha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43530" y="645350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4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1</a:t>
            </a:r>
            <a:endParaRPr lang="en-US" altLang="zh-CN" sz="14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60520" y="6423025"/>
            <a:ext cx="823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1600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2</a:t>
            </a:r>
            <a:endParaRPr lang="en-US" altLang="zh-CN" sz="1600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29580" y="6343015"/>
            <a:ext cx="842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问题</a:t>
            </a:r>
            <a:r>
              <a:rPr lang="en-US" altLang="zh-CN" sz="2000" b="1">
                <a:solidFill>
                  <a:schemeClr val="bg1">
                    <a:alpha val="80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3</a:t>
            </a:r>
            <a:endParaRPr lang="en-US" altLang="zh-CN" sz="2000" b="1">
              <a:solidFill>
                <a:schemeClr val="bg1">
                  <a:alpha val="80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560" y="44450"/>
            <a:ext cx="192595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32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  <a:sym typeface="+mn-ea"/>
              </a:rPr>
              <a:t>实时响应</a:t>
            </a:r>
            <a:endParaRPr lang="zh-CN" altLang="en-US" sz="3200" b="1"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35785" y="116840"/>
            <a:ext cx="180213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21:00</a:t>
            </a:r>
            <a:endParaRPr lang="en-US" altLang="zh-CN" sz="2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15695" y="5788025"/>
            <a:ext cx="7229475" cy="554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21:00</a:t>
            </a:r>
            <a:r>
              <a:rPr lang="zh-CN" altLang="en-US" sz="1600" b="1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决策</a:t>
            </a:r>
            <a:r>
              <a:rPr lang="zh-CN" altLang="en-US" sz="16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：风险出现二次波动，需保留主力在核心区，分小部分人手兼顾东部两个次级热点的零星事件。</a:t>
            </a:r>
            <a:endParaRPr lang="zh-CN" altLang="en-US" sz="16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7" name="图片 14" descr="newplot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3942715"/>
            <a:ext cx="6551295" cy="1790700"/>
          </a:xfrm>
          <a:prstGeom prst="rect">
            <a:avLst/>
          </a:prstGeom>
        </p:spPr>
      </p:pic>
      <p:pic>
        <p:nvPicPr>
          <p:cNvPr id="4" name="图片 3" descr="18点-19点半事件地点热力图"/>
          <p:cNvPicPr>
            <a:picLocks noChangeAspect="1"/>
          </p:cNvPicPr>
          <p:nvPr/>
        </p:nvPicPr>
        <p:blipFill>
          <a:blip r:embed="rId3">
            <a:alphaModFix amt="0"/>
          </a:blip>
          <a:srcRect r="7669"/>
          <a:stretch>
            <a:fillRect/>
          </a:stretch>
        </p:blipFill>
        <p:spPr>
          <a:xfrm>
            <a:off x="-5328920" y="620395"/>
            <a:ext cx="5328920" cy="3255010"/>
          </a:xfrm>
          <a:prstGeom prst="rect">
            <a:avLst/>
          </a:prstGeom>
        </p:spPr>
      </p:pic>
      <p:pic>
        <p:nvPicPr>
          <p:cNvPr id="9" name="图片 8" descr="19点半-21点事件地点热力图"/>
          <p:cNvPicPr>
            <a:picLocks noChangeAspect="1"/>
          </p:cNvPicPr>
          <p:nvPr/>
        </p:nvPicPr>
        <p:blipFill>
          <a:blip r:embed="rId4"/>
          <a:srcRect r="9428"/>
          <a:stretch>
            <a:fillRect/>
          </a:stretch>
        </p:blipFill>
        <p:spPr>
          <a:xfrm>
            <a:off x="2065020" y="687705"/>
            <a:ext cx="5227955" cy="3255010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H="1" flipV="1">
            <a:off x="4211955" y="2997200"/>
            <a:ext cx="1482725" cy="2870200"/>
          </a:xfrm>
          <a:prstGeom prst="straightConnector1">
            <a:avLst/>
          </a:prstGeom>
          <a:ln w="31750">
            <a:solidFill>
              <a:srgbClr val="FF0000"/>
            </a:soli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3459480" y="5085080"/>
            <a:ext cx="2120900" cy="788670"/>
          </a:xfrm>
          <a:prstGeom prst="straightConnector1">
            <a:avLst/>
          </a:prstGeom>
          <a:ln w="31750">
            <a:solidFill>
              <a:srgbClr val="FF0000"/>
            </a:soli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84505" y="2853055"/>
            <a:ext cx="8175625" cy="1788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8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感谢观看</a:t>
            </a:r>
            <a:endParaRPr lang="zh-CN" sz="8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6233</Words>
  <Application>WPS 演示</Application>
  <PresentationFormat/>
  <Paragraphs>516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宋体</vt:lpstr>
      <vt:lpstr>Wingdings</vt:lpstr>
      <vt:lpstr>仿宋</vt:lpstr>
      <vt:lpstr>微软雅黑</vt:lpstr>
      <vt:lpstr>Arial Unicode MS</vt:lpstr>
      <vt:lpstr>Calibri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又有填表！</cp:lastModifiedBy>
  <cp:revision>6</cp:revision>
  <dcterms:created xsi:type="dcterms:W3CDTF">2025-07-23T00:59:00Z</dcterms:created>
  <dcterms:modified xsi:type="dcterms:W3CDTF">2026-06-10T15:53:08Z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ECF81891365843119A1E500E7EF4D770_12</vt:lpwstr>
  </property>
</Properties>
</file>