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8" r:id="rId4"/>
    <p:sldId id="262" r:id="rId5"/>
    <p:sldId id="264" r:id="rId6"/>
    <p:sldId id="266" r:id="rId7"/>
    <p:sldId id="268" r:id="rId8"/>
    <p:sldId id="269" r:id="rId9"/>
    <p:sldId id="28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301" r:id="rId18"/>
    <p:sldId id="278" r:id="rId19"/>
    <p:sldId id="297" r:id="rId20"/>
    <p:sldId id="298" r:id="rId21"/>
    <p:sldId id="281" r:id="rId22"/>
    <p:sldId id="282" r:id="rId23"/>
    <p:sldId id="283" r:id="rId24"/>
    <p:sldId id="284" r:id="rId25"/>
    <p:sldId id="285" r:id="rId26"/>
    <p:sldId id="302" r:id="rId27"/>
    <p:sldId id="287" r:id="rId28"/>
    <p:sldId id="289" r:id="rId29"/>
    <p:sldId id="290" r:id="rId30"/>
    <p:sldId id="291" r:id="rId31"/>
    <p:sldId id="293" r:id="rId32"/>
    <p:sldId id="294" r:id="rId33"/>
    <p:sldId id="300" r:id="rId34"/>
    <p:sldId id="295" r:id="rId3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CC8E"/>
    <a:srgbClr val="CFB9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732" y="108"/>
      </p:cViewPr>
      <p:guideLst>
        <p:guide orient="horz" pos="2167"/>
        <p:guide pos="28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248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C9E0E-7581-B550-D57B-E30708CB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6E62FC-549A-70CC-C3A8-7A83D344B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293399-F17F-62E3-8D70-A2A6C784DA5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201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907F-EB7D-CFE2-972A-3A3B172B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E5B45C-1EB9-4479-C3E0-2C6CC5AEA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A5472F-021C-FCB3-0439-DD50178097F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685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4E8A-9E1A-EA8B-AF57-F533F2EB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7565BF-D67E-26B7-674C-A1A393F65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DA733A-0044-0445-6DAD-B6B2029126F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064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8EFA-C920-998F-7D2D-4F6B125A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3E74A5-7571-B78B-2ED8-F00771E69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FE44BC-8416-0DF9-596C-77EF4580EEC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720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C89C-300A-A9B2-27B0-5D1C74D1A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4BA1BC-F606-DE0F-A09B-C07980D85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C802AA-1C42-DCD0-F897-466B2961962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4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4505" y="1701165"/>
            <a:ext cx="8175625" cy="178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5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VAST Challenge 2021 MC3</a:t>
            </a:r>
          </a:p>
          <a:p>
            <a:pPr algn="ctr"/>
            <a:r>
              <a:rPr lang="zh-CN" altLang="en-US" sz="5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消息类型可视化分析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55465" y="3357245"/>
            <a:ext cx="4643755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——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数据可视化课题报告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44390" y="4364990"/>
            <a:ext cx="4088130" cy="1852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组成员：</a:t>
            </a: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楼昊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2302100119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统领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整合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优化</a:t>
            </a: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朱文杰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2302100120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和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zh-CN" altLang="en-US" sz="18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马均豪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2302100123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整合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写报告</a:t>
            </a: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黄克轩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2302100135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汇报演讲</a:t>
            </a: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潘永川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2302100110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PPT+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6309360"/>
            <a:ext cx="267906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使用的工具：</a:t>
            </a:r>
            <a:r>
              <a:rPr lang="en-US" altLang="zh-CN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Trae CN,auto</a:t>
            </a:r>
          </a:p>
        </p:txBody>
      </p:sp>
    </p:spTree>
    <p:custDataLst>
      <p:tags r:id="rId1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2052955" y="2852420"/>
            <a:ext cx="4550410" cy="4410075"/>
          </a:xfrm>
          <a:prstGeom prst="ellipse">
            <a:avLst/>
          </a:prstGeom>
          <a:solidFill>
            <a:srgbClr val="DFCC8E"/>
          </a:solidFill>
          <a:ln>
            <a:solidFill>
              <a:srgbClr val="CFB9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1460" y="3716655"/>
            <a:ext cx="1497330" cy="230695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6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87675" y="1482725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87675" y="241935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二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挑战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：消息分类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87675" y="3355975"/>
            <a:ext cx="590931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三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挑战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：风险水平演变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987675" y="4292600"/>
            <a:ext cx="590931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四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挑战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：派遣队伍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683760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771775" y="6345555"/>
            <a:ext cx="810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580380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14" name="图片 13" descr="图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880" y="692785"/>
            <a:ext cx="4460875" cy="22606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3260" y="3069590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83260" y="4221480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636010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19525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16145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83260" y="908685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83260" y="206057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771775" y="6343015"/>
            <a:ext cx="854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23890" y="638111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377126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797175" y="6350000"/>
            <a:ext cx="896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772535" y="638810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83260" y="908685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83260" y="206057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80280" y="638746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72760" y="6381115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326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风险水平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在当晚的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演变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。考虑这种情况可能带来的后果以及可能受影响的人数。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831465" y="6350000"/>
            <a:ext cx="857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83260" y="908685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83260" y="206057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39845" y="638746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32325" y="6381115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26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如果你能派一支第一响应者团队去任何一个地方，你会去哪里？请说明你的理由。如果你必须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实时回应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事件，而不是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事后回应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，你的反应会有什么不同？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07990" y="6377940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0560" y="285305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64426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BBA102-711B-5283-A1C3-0DF7A5B99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198" y="1295658"/>
            <a:ext cx="4465542" cy="470810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55650" y="1700530"/>
            <a:ext cx="3250565" cy="180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数量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占比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由内容类型分布饼图可知：</a:t>
            </a:r>
          </a:p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占比最高，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事件报告与其他类型占比相近，聊天占比最低。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164070" y="5085080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380605" y="4149090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260" y="4653280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信息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篇幅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结合图2、图6可见，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不仅平均文本长度最长，长度离散程度也最大，文本格式杂乱；事件报告平均长度次之，篇幅分布集中稳定；聊天类消息字符数最少，长度波动极小。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68E196-C3C6-5211-CAC3-4F622C3CE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539378"/>
            <a:ext cx="4104456" cy="2687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FE6DB5-AA7B-BA8B-A1CE-C40069860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845" y="1530714"/>
            <a:ext cx="3975611" cy="2678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723890" y="1628775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260" y="4869180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标签使用率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标签使用率柱状图显示，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大量使用话题标签用于引流，其余三类内容标签使用频次普遍偏低，聊天最低。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31F545-7B54-C081-E304-DF0113BC0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263" y="1374083"/>
            <a:ext cx="5953958" cy="3445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516370" y="2132965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260" y="4940935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时序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时序折线图体现出明显差异：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呈脉冲式爆发，集中在特定时段出现峰值，和突发事件高度关联；垃圾信息、闲聊、其他内容全天发布节奏平稳。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210D26-06BA-E259-E0E5-2045CA52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96" y="1551756"/>
            <a:ext cx="7228357" cy="3135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395210" y="4047490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</a:p>
          <a:p>
            <a:pPr algn="l"/>
            <a:r>
              <a:rPr lang="en-US" altLang="zh-CN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</a:p>
          <a:p>
            <a:pPr algn="l"/>
            <a:r>
              <a:rPr lang="en-US" altLang="zh-CN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</a:p>
          <a:p>
            <a:pPr algn="l"/>
            <a:r>
              <a:rPr lang="en-US" altLang="zh-CN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260" y="4940935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作者存在率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作者存在率柱状图表明，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存在匿名发布现象，作者留存率偏低，另外三类消息基本均标注完整作者信息。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BAB4083-671B-1563-C785-E8CBCD51A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3" y="1324610"/>
            <a:ext cx="6336704" cy="3665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395210" y="4047490"/>
            <a:ext cx="1383030" cy="893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ccdata--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官方</a:t>
            </a:r>
            <a:endParaRPr lang="en-US" altLang="zh-CN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mbdata--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非官方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260" y="5013325"/>
            <a:ext cx="7847965" cy="970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数据源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与内容的关联：</a:t>
            </a: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官方调度数据源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ccdata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仅产生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，是应急信息专属渠道；社交数据源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mbdata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混杂全部四类消息，信息复杂度高。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7D6196-4649-A0F3-5272-3AD767598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67" y="1376288"/>
            <a:ext cx="6273518" cy="3632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260" y="4940935"/>
            <a:ext cx="7847965" cy="970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词汇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对比：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vs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)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事件报告高频词以火情、警务、集会等应急相关词汇为主，偏向事件纪实；垃圾信息则以营销、推广类词汇为主，商业引流属性显著。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88B078-5F4C-3D23-22E1-E1D17CA9F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352042"/>
            <a:ext cx="7902438" cy="3573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6745" y="1557020"/>
            <a:ext cx="7847965" cy="2357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问题一</a:t>
            </a:r>
            <a:r>
              <a:rPr lang="zh-CN" altLang="en-US" sz="20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四类消息特征区分度极高。</a:t>
            </a: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事件报告依托官方渠道、随突发事件集中发布、用词贴合应急场景，存在匿名发布情况；</a:t>
            </a: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垃圾信息文本冗长、滥用标签、营销语义突出，全天候均匀发布；</a:t>
            </a: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闲聊内容简短、发布平稳、体量最少；</a:t>
            </a: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4.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其余内容各项特征介于中间水平。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AE28F-F423-93AA-2E01-E7CC2053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D2BD9DD-FD1D-BDF5-0173-EBF07C7B4DF4}"/>
              </a:ext>
            </a:extLst>
          </p:cNvPr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318B721-6860-C642-CD94-380170923ADE}"/>
              </a:ext>
            </a:extLst>
          </p:cNvPr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8F5A90-4EA4-14CD-235F-373D4524A780}"/>
              </a:ext>
            </a:extLst>
          </p:cNvPr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zh-CN" altLang="en-US" sz="18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7D1AC9-6EBE-45C8-E20C-E954BB6DBA3F}"/>
              </a:ext>
            </a:extLst>
          </p:cNvPr>
          <p:cNvSpPr txBox="1"/>
          <p:nvPr/>
        </p:nvSpPr>
        <p:spPr>
          <a:xfrm>
            <a:off x="626745" y="1557020"/>
            <a:ext cx="7847965" cy="2357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首先是挑战一：消息分类分析。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我们首先通过多组可视化图表，对数据集里四类消息：事件报告、垃圾信息、普通闲聊、其他信息展开全方位对比。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第一幅是内容占比饼图：垃圾信息占比最高，事件报告和其他信息占比相近，闲聊类内容体量最少，仅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2.9%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第二张是消息平均长度统计图：垃圾信息平均文本最长，篇幅长短差异大、格式杂乱；事件报告长度居中，内容篇幅稳定规整；闲聊类消息字数最少，波动也最小。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第三张标签使用率柱状图：垃圾信息频繁使用话题标签，目的多为引流推广，而事件报告、闲聊、其他内容几乎很少使用标签。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从发布时序折线图能清晰看到规律：事件报告呈现脉冲式爆发，集中在突发事件发生时段，和险情高度绑定；剩余三类消息全天发布节奏平稳，无明显峰值。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再看作者存在率：事件报告存在匿名发布情况，作者留存率偏低；闲聊、垃圾信息、其他消息基本都完整标注作者信息。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在数据来源上也有明显区分：官方应急调度渠道仅产出事件报告，是纯粹的应急信息渠道；而社交平台数据源混杂了全部四类消息，信息繁杂、干扰项多。</a:t>
            </a: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最后我们对比了高频词汇：事件报告多出现火情、警务、集会等应急相关词汇，以纪实为主；垃圾信息则充斥营销、推广类词汇，商业属性极强。</a:t>
            </a:r>
          </a:p>
          <a:p>
            <a:endParaRPr lang="zh-CN" altLang="en-US" sz="12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基于以上所有可视化分析，我们对四类消息做出总结：事件报告依托官方渠道、随险情集中爆发、用词专业贴合应急场景，存在匿名现象；垃圾信息篇幅冗长、滥用标签、营销属性突出，全天均匀发布；闲聊内容简短、发布平稳、占比最低；其余信息各项特征均处于中间水平，四类消息特征区分十分明显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46949F-6387-990D-D3DB-09D8F1F46B52}"/>
              </a:ext>
            </a:extLst>
          </p:cNvPr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06F6F4-ED3F-30AA-B9E9-5B2B7782637F}"/>
              </a:ext>
            </a:extLst>
          </p:cNvPr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825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1980" y="2853055"/>
            <a:ext cx="7836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9219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8836" y="3966895"/>
            <a:ext cx="7200602" cy="2087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风险水平赋值：</a:t>
            </a:r>
            <a:b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Other : 0,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POK Rally : 1,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Traffic: 1,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Crowd Control : 2,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Fire : 3,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Shooting : 4,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Hostage : 4,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Explosion : 5,</a:t>
            </a:r>
          </a:p>
          <a:p>
            <a:pPr algn="l"/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    SWAT : 4  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具体赋值标准见分析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0A40A-65E3-5BC1-B16E-BE480D3E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5F29288-01D4-DD41-A422-A2F52B7D767E}"/>
              </a:ext>
            </a:extLst>
          </p:cNvPr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F986971-3BE5-E445-56E9-31601A0C509B}"/>
              </a:ext>
            </a:extLst>
          </p:cNvPr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问题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7669A9-4698-0EF5-2E67-5F802833B50D}"/>
              </a:ext>
            </a:extLst>
          </p:cNvPr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问题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4C0BAC-8C23-9D73-9B7B-9B1C9E50A9C6}"/>
              </a:ext>
            </a:extLst>
          </p:cNvPr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问题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313F1A-0B69-EF9C-F687-428CF3DE7A7D}"/>
              </a:ext>
            </a:extLst>
          </p:cNvPr>
          <p:cNvSpPr txBox="1"/>
          <p:nvPr/>
        </p:nvSpPr>
        <p:spPr>
          <a:xfrm>
            <a:off x="359219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仿宋" panose="02010609060101010101" charset="-122"/>
              <a:ea typeface="仿宋" panose="02010609060101010101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6C5114-60F0-A384-F8F2-7AD23F991689}"/>
              </a:ext>
            </a:extLst>
          </p:cNvPr>
          <p:cNvSpPr txBox="1"/>
          <p:nvPr/>
        </p:nvSpPr>
        <p:spPr>
          <a:xfrm>
            <a:off x="467544" y="662568"/>
            <a:ext cx="7200602" cy="55086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dirty="0">
                <a:solidFill>
                  <a:schemeClr val="bg1"/>
                </a:solidFill>
              </a:rPr>
              <a:t>0 级：Other 其他事件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综合风险：无实质公共安全威胁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适用场景：普通民事求助、物品遗失、邻里口角、噪音投诉、走失人员、普通设备故障等不涉及危险、聚众、灾害、暴力的一般性警情。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分级依据：不存在伤人、起火、冲突、爆炸等安全隐患，单名巡逻警员即可独立处置，几乎不会造成人身伤害与公共秩序混乱，因此划定最低风险 0 级。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1 级：POK 集会、交通管制（Traffic）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综合风险：低风险，可控轻微秩序扰动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POK 集会：合规和平集会，参与者无过激诉求、无携带危险器械，仅需少量警力定点值守，极少出现冲突、斗殴；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交通管制：道路疏导、临时封路、轻微交通事故疏导，仅影响通行效率，无大规模伤亡、暴力冲突风险。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分级依据：仅存在轻度秩序管理需求，无明火、枪械、爆炸物等致命危险源，发生恶性安全事故概率极低，统一划定 1 级低风险。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2 级：人群管控（Crowd Control）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综合风险：中等偏低，存在群体性失序隐患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适用场景：大型活动、密集人流景区 / 商圈、大规模群众聚集，人群密度高，存在拥挤踩踏、小规模口角推搡、局部起哄闹事的可能性。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分级依据：相比 1 级集会、交通场景，人群高度集中带来踩踏、局部冲突风险，但现场一般无武器、明火、爆炸物，仅需增派常规警力分区疏导，暂不需要消防、特警支援，风险高于单纯集会与交通事件，定为 2 级。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仿宋" panose="02010609060101010101" charset="-122"/>
              <a:ea typeface="仿宋" panose="02010609060101010101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950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29606-4514-B0A9-6DC9-68CC9B9F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6601333-09FA-3E0C-602D-9CBB2567D315}"/>
              </a:ext>
            </a:extLst>
          </p:cNvPr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ABF438D-76CD-6430-8C23-E0DE274421B7}"/>
              </a:ext>
            </a:extLst>
          </p:cNvPr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问题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741436-E798-A214-6140-7FEB1EC7BC57}"/>
              </a:ext>
            </a:extLst>
          </p:cNvPr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问题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2C81BE-3838-7999-CF9B-81AB52F5EC19}"/>
              </a:ext>
            </a:extLst>
          </p:cNvPr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问题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</a:rPr>
              <a:t>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0FC134-2C9E-EC2B-985B-0C59BA85F00E}"/>
              </a:ext>
            </a:extLst>
          </p:cNvPr>
          <p:cNvSpPr txBox="1"/>
          <p:nvPr/>
        </p:nvSpPr>
        <p:spPr>
          <a:xfrm>
            <a:off x="359219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仿宋" panose="02010609060101010101" charset="-122"/>
              <a:ea typeface="仿宋" panose="02010609060101010101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75D050-47CD-5E15-45E5-12056A834766}"/>
              </a:ext>
            </a:extLst>
          </p:cNvPr>
          <p:cNvSpPr txBox="1"/>
          <p:nvPr/>
        </p:nvSpPr>
        <p:spPr>
          <a:xfrm>
            <a:off x="395536" y="548680"/>
            <a:ext cx="7200602" cy="55086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zh-CN" sz="1400" dirty="0">
                <a:solidFill>
                  <a:schemeClr val="bg1"/>
                </a:solidFill>
              </a:rPr>
              <a:t>3 级：火灾（Fire）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综合风险：中等风险，存在明火衍生多重灾害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适用场景：建筑起火、车辆火情、户外野火，伴随浓烟、高温灼伤、建筑坍塌、火势蔓延风险，易造成人员烧伤、窒息伤亡，需要消防主力到场处置。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分级依据：明火具备持续扩散、扩大灾害范围的能力，会产生伤亡与财产损失；但区别于枪击、人质、爆炸，火灾无主动攻击性暴力行为，不存在人为持枪挟持、蓄意爆破等高致命人为威胁，因此风险低于 4 级暴力危情，划定 3 级。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4 级：枪击事件、人质事件、特警行动（SWAT）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综合风险：高致命风险，存在主动暴力伤人威胁，需特警攻坚处置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三类事件统一归为 4 级，共性特征：存在致命武器、人为主动暴力、现场随时发生人员死伤，常规民警无法独立处置，必须出动特警、谈判专家、医疗急救多部门联动：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枪击事件：嫌疑人持有枪械，无差别或针对性射击，即时伤亡风险极高；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人质事件：嫌疑人挟持无辜人员作为筹码，随时可能伤害、杀害被挟持者，谈判与攻坚双重压力；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特警行动：本身就是针对高危暴力嫌犯的专项处置行动，行动目标均携带凶器、枪支，全程伴随对抗、交火风险。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分级依据：人为可控致命武器带来即时、主动的生命威胁，处置容错率极低；但对比爆炸事件，枪击、人质现场不具备大范围、无差别毁灭性破坏能力，波及范围有限，因此风险低于 5 级爆炸，统一划为 4 级高危事件。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5 级：爆炸事件（Explosion）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综合风险：顶级致命风险，全域毁灭性灾害，最高风险等级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适用场景：人为炸弹引爆、危险品爆炸、燃气剧烈爆炸，单次爆炸瞬间造成大范围冲击、碎片杀伤、建筑坍塌、连环起火，一次性大规模死伤，冲击波可波及周边百米范围，次生火灾、二次爆炸风险极高。</a:t>
            </a:r>
          </a:p>
          <a:p>
            <a:r>
              <a:rPr lang="zh-CN" altLang="zh-CN" sz="1400" dirty="0">
                <a:solidFill>
                  <a:schemeClr val="bg1"/>
                </a:solidFill>
              </a:rPr>
              <a:t>分级依据：爆炸具备大范围无差别杀伤特性，一次性伤亡规模远超枪击、人质事件，破坏覆盖人群、建筑、公共设施，处置救援难度、次生灾害连锁反应均为所有事件中最高，因此单独划定最高风险 5 级。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仿宋" panose="02010609060101010101" charset="-122"/>
              <a:ea typeface="仿宋" panose="02010609060101010101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631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89255" y="1196975"/>
            <a:ext cx="2958465" cy="4815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公共</a:t>
            </a:r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风险水平演变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①17:00-18:30，平均风险维持在0-1区间，最高风险出现数次小幅波动（峰值约4），主要由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POK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集会和零星火灾事件驱动，处于风险</a:t>
            </a:r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酝酿期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②18:30起火灾事件急剧增加，风险分数从3快速攀升至4.5，标志着"火灾爆发"阶段的开始，进入风险</a:t>
            </a:r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攀升期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③19:30-21:30，风险进入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红色警戒区域，先后爆发人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质危机、特警行动、枪击事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件和爆炸事件，最高风险持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续维持在4-5.5高位，处于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高危集中期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</a:p>
          <a:p>
            <a:pPr algn="l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④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各类型高风险事件在时间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上存在</a:t>
            </a:r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叠加效应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，火灾与人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质危机、枪击与爆炸事件先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后发生，形成复合型危机态</a:t>
            </a:r>
          </a:p>
          <a:p>
            <a:pPr algn="l">
              <a:lnSpc>
                <a:spcPct val="110000"/>
              </a:lnSpc>
            </a:pP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势。</a:t>
            </a:r>
            <a:endParaRPr lang="zh-CN" altLang="en-US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endParaRPr lang="zh-CN" altLang="en-US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F97F1F-106D-C10C-BF13-395F534C0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329" y="3604577"/>
            <a:ext cx="5760640" cy="25383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E8D7BE9-CF0B-2DB5-DEB4-586FF0A16A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657" y="938521"/>
            <a:ext cx="5229312" cy="2599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F271CA6-38C5-A9FE-94DE-E36DB4E89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358" y="929863"/>
            <a:ext cx="5289505" cy="26248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7D82D56-CB20-B5F3-C5FD-18E094B7A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944" y="3604687"/>
            <a:ext cx="4139210" cy="2551357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83260" y="2449830"/>
            <a:ext cx="3465195" cy="391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类型、风险、时间分析</a:t>
            </a: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①火灾事件数量最多，</a:t>
            </a:r>
          </a:p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累积超过500起，持续</a:t>
            </a:r>
          </a:p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时间最长，风险峰等级高</a:t>
            </a:r>
          </a:p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②人质事件风险等级高，</a:t>
            </a:r>
          </a:p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持续时间超过2小时，与特警行动时段高度重合。</a:t>
            </a:r>
          </a:p>
          <a:p>
            <a:pPr algn="l">
              <a:lnSpc>
                <a:spcPct val="110000"/>
              </a:lnSpc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③枪击事件和爆炸事件虽持续时间较短，但突发性强，风险等级最高，表明暴力程度升级。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995930" y="3143250"/>
            <a:ext cx="1576705" cy="107759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DC9B163-12D2-7CD1-A479-E127F89FEC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71246"/>
            <a:ext cx="7488758" cy="4140581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5650" y="5300980"/>
            <a:ext cx="779145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消息量与风险关联性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消息量与风险水平呈现显著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正相关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，19:30-20:00消息量达到峰值，对应最高风险攀升至5.0。</a:t>
            </a:r>
          </a:p>
          <a:p>
            <a:pPr algn="l">
              <a:lnSpc>
                <a:spcPct val="100000"/>
              </a:lnSpc>
            </a:pP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2" name="直接箭头连接符 11"/>
          <p:cNvCxnSpPr>
            <a:cxnSpLocks/>
          </p:cNvCxnSpPr>
          <p:nvPr/>
        </p:nvCxnSpPr>
        <p:spPr>
          <a:xfrm flipH="1" flipV="1">
            <a:off x="5292090" y="1484630"/>
            <a:ext cx="378663" cy="4032602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1444942" y="3481337"/>
            <a:ext cx="3725545" cy="24257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31850" y="4580890"/>
            <a:ext cx="779145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后果评估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①火灾事件累积数量大，可能导致大规模财产损失和人员伤亡。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②人质危机持续时间长，涉及警方与劫持者对峙，存在人质生命安全风险。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③枪击和爆炸事件表明暴力升级，可能引发公众恐慌，受影响人群范围广。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143FE5-443A-0E24-25E6-3876D125B8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07" y="1180465"/>
            <a:ext cx="6956186" cy="3453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6430" y="1988820"/>
            <a:ext cx="7791450" cy="3432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总结：</a:t>
            </a: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次突发事件具备突发性、传播性强的特点，易引发人身安全隐患、局部秩序紊乱等一系列问题。当晚19:30-21:00为风险最为严峻的时段，多种高风险事件叠加爆发，形成"火灾+人质+枪击+爆炸"的复合型危机。城区大多数居民受到波及，人流密集区域、事发周边地带受影响程度最深。整体而言，当晚公众风险随应急事件的发展同步起伏，多类可视化数据相互印证，完整还原了风险演变全过程，也直观体现出信息混杂给应急处置带来的额外挑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AEDB-780B-50F8-A312-4C2E8DA1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547FE33-954E-109A-55C3-0B5C91964049}"/>
              </a:ext>
            </a:extLst>
          </p:cNvPr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61B8406-A23A-6B9F-CCBE-8995A1D40AA5}"/>
              </a:ext>
            </a:extLst>
          </p:cNvPr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1EF155-0EB3-DDD8-4059-E0B1324769DD}"/>
              </a:ext>
            </a:extLst>
          </p:cNvPr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zh-CN" altLang="en-US" sz="1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FA71A8-F1D1-0126-5A90-C2B511B65CE6}"/>
              </a:ext>
            </a:extLst>
          </p:cNvPr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32FF0A-C3F9-0C8C-87F6-181BDE3D0BA4}"/>
              </a:ext>
            </a:extLst>
          </p:cNvPr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7E4A77-3C0B-4E78-C303-406D7F18545D}"/>
              </a:ext>
            </a:extLst>
          </p:cNvPr>
          <p:cNvSpPr txBox="1"/>
          <p:nvPr/>
        </p:nvSpPr>
        <p:spPr>
          <a:xfrm>
            <a:off x="520700" y="651619"/>
            <a:ext cx="7791450" cy="3432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接下来讲解挑战二：公众风险水平演变分析。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我们结合时序图表、事件分布、消息量曲线，完整还原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年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日当晚的风险变化，并评估事件影响。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按照时间线划分，当晚风险整体分为四个阶段：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第一阶段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17:00-18:30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，属于风险酝酿期。整体平均风险维持在低位，仅因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POK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集会和零星小型火灾出现小幅波动，风险整体可控。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第二阶段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18:30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开始，火灾事件集中爆发，风险分数快速攀升，正式进入风险上升期。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第三阶段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19:30-21:30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，是本次事件高危峰值阶段，也是整场危机最严峻的时段。人质危机、特警行动、枪击、爆炸事件接连发生，最高风险长期处于高位，多种高风险事件叠加，形成复合型危机。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从事件类型统计来看：火灾事件数量最多、持续时间最长，是贯穿全程的主要风险；人质事件风险等级高，和特警行动时段高度重合；枪击、爆炸事件虽然持续时间短，但突发性极强，代表现场暴力等级大幅升级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同时我们发现一个规律：消息发布量和风险水平呈显著正相关，风险最高的时段，社交平台与调度记录的消息量也同步达到顶峰。</a:t>
            </a:r>
          </a:p>
          <a:p>
            <a:endParaRPr lang="zh-CN" altLang="en-US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在事件后果与受影响人群评估上：大范围火灾易造成严重财产损失与人员伤亡；长时间人质对峙直接威胁人质生命安全；枪击、爆炸事件极易引发全城公众恐慌，波及范围极广。分时段统计数据显示，从风险酝酿到高危爆发，直接、间接受影响人数持续上涨，人流密集区、事发周边区域受灾最为严重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综合来看，本次突发事件突发性强、信息传播快，多重风险叠加给应急处置带来了巨大挑战。</a:t>
            </a:r>
          </a:p>
        </p:txBody>
      </p:sp>
    </p:spTree>
    <p:extLst>
      <p:ext uri="{BB962C8B-B14F-4D97-AF65-F5344CB8AC3E}">
        <p14:creationId xmlns:p14="http://schemas.microsoft.com/office/powerpoint/2010/main" val="404680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11505" y="2853055"/>
            <a:ext cx="7836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如果你能派一支第一响应者团队去任何一个地方，你会去哪里？请说明你的理由。如果你必须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实时回应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事件，而不是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事后回应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，你的反应会有什么不同？</a:t>
            </a:r>
          </a:p>
          <a:p>
            <a:pPr algn="l"/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01720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9795" y="3573145"/>
            <a:ext cx="1456690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66165" y="4869180"/>
            <a:ext cx="7047865" cy="1447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选址决策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：优先派往经度24.85-24.86、纬度36.06附近的中西部聚类区域。理由： 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综合风险高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：全天汇总图里这里总事件65、平均风险2.2，是全城风险最集中、单事件风险最高的片区。 </a:t>
            </a:r>
          </a:p>
          <a:p>
            <a:pPr algn="l">
              <a:lnSpc>
                <a:spcPct val="100000"/>
              </a:lnSpc>
            </a:pP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2" name="图片 11" descr="事件地点散点热力图"/>
          <p:cNvPicPr>
            <a:picLocks noChangeAspect="1"/>
          </p:cNvPicPr>
          <p:nvPr/>
        </p:nvPicPr>
        <p:blipFill>
          <a:blip r:embed="rId4"/>
          <a:srcRect r="8416"/>
          <a:stretch>
            <a:fillRect/>
          </a:stretch>
        </p:blipFill>
        <p:spPr>
          <a:xfrm>
            <a:off x="1362075" y="836930"/>
            <a:ext cx="6419215" cy="395287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H="1" flipV="1">
            <a:off x="3851910" y="3717290"/>
            <a:ext cx="144145" cy="12236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</a:p>
        </p:txBody>
      </p:sp>
      <p:pic>
        <p:nvPicPr>
          <p:cNvPr id="7" name="图片 6" descr="18点以前事件地点热力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15" y="620395"/>
            <a:ext cx="4679528" cy="2638958"/>
          </a:xfrm>
          <a:prstGeom prst="rect">
            <a:avLst/>
          </a:prstGeom>
        </p:spPr>
      </p:pic>
      <p:pic>
        <p:nvPicPr>
          <p:cNvPr id="4" name="图片 3" descr="19点半-21点事件地点热力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710" y="620395"/>
            <a:ext cx="4680645" cy="263895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5605" y="3421380"/>
            <a:ext cx="3954780" cy="3158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选址决策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：优先派往经度24.85-24.86、纬度36.06附近的中西部聚类区域。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理由： 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</a:t>
            </a:r>
            <a:r>
              <a:rPr lang="zh-CN" altLang="en-US" sz="16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趋势预判匹配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：折线图显示19: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0后总风险值陡拉至峰值，该片区正是本轮风险飙升的核心源头，提前布防能拦截绝大多数高风险事件。 </a:t>
            </a:r>
          </a:p>
          <a:p>
            <a:pPr algn="l">
              <a:lnSpc>
                <a:spcPct val="10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</a:t>
            </a:r>
            <a:r>
              <a:rPr lang="zh-CN" altLang="en-US" sz="16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风险增长幅度最大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：18:00前该片区仅14起事件、总风险10.0，后续风险量级暴涨，是风险增量最突出的区域，提前派驻能最大化降低后续整体损失。</a:t>
            </a:r>
          </a:p>
        </p:txBody>
      </p:sp>
      <p:pic>
        <p:nvPicPr>
          <p:cNvPr id="12" name="图片 11" descr="图1_风险水平演变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955" y="3357245"/>
            <a:ext cx="5169535" cy="256857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3707765" y="4293235"/>
            <a:ext cx="3384550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2268855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</a:p>
        </p:txBody>
      </p:sp>
      <p:pic>
        <p:nvPicPr>
          <p:cNvPr id="7" name="图片 6" descr="18点以前事件地点热力图"/>
          <p:cNvPicPr>
            <a:picLocks noChangeAspect="1"/>
          </p:cNvPicPr>
          <p:nvPr/>
        </p:nvPicPr>
        <p:blipFill>
          <a:blip r:embed="rId4"/>
          <a:srcRect r="6752" b="-123"/>
          <a:stretch>
            <a:fillRect/>
          </a:stretch>
        </p:blipFill>
        <p:spPr>
          <a:xfrm>
            <a:off x="1907540" y="654050"/>
            <a:ext cx="5369560" cy="3251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实时响应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35785" y="116840"/>
            <a:ext cx="583247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18:00    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本作答中取三个时间点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15695" y="5788025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18:00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：东西两片风险平稳偏低，可分少量人力兼顾两片常规点位。</a:t>
            </a:r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4" descr="newplot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350" y="3942715"/>
            <a:ext cx="6551295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2268855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实时响应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35785" y="116840"/>
            <a:ext cx="180213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15695" y="5788025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：东部片区风险开始抬升，逐步增派力量向该区域倾斜</a:t>
            </a:r>
          </a:p>
        </p:txBody>
      </p:sp>
      <p:pic>
        <p:nvPicPr>
          <p:cNvPr id="17" name="图片 14" descr="newplot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0" y="3942715"/>
            <a:ext cx="6551295" cy="1790700"/>
          </a:xfrm>
          <a:prstGeom prst="rect">
            <a:avLst/>
          </a:prstGeom>
        </p:spPr>
      </p:pic>
      <p:pic>
        <p:nvPicPr>
          <p:cNvPr id="4" name="图片 3" descr="18点-19点半事件地点热力图"/>
          <p:cNvPicPr>
            <a:picLocks noChangeAspect="1"/>
          </p:cNvPicPr>
          <p:nvPr/>
        </p:nvPicPr>
        <p:blipFill>
          <a:blip r:embed="rId5"/>
          <a:srcRect r="7669"/>
          <a:stretch>
            <a:fillRect/>
          </a:stretch>
        </p:blipFill>
        <p:spPr>
          <a:xfrm>
            <a:off x="1906905" y="648335"/>
            <a:ext cx="5328920" cy="325501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2762250" y="3068955"/>
            <a:ext cx="2961640" cy="27857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实时响应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35785" y="116840"/>
            <a:ext cx="180213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21:00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15695" y="5788025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21:00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：风险出现二次波动，需保留主力在核心区，分小部分人手兼顾东部两个次级热点的零星事件。</a:t>
            </a:r>
          </a:p>
        </p:txBody>
      </p:sp>
      <p:pic>
        <p:nvPicPr>
          <p:cNvPr id="17" name="图片 14" descr="newplot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0" y="3942715"/>
            <a:ext cx="6551295" cy="1790700"/>
          </a:xfrm>
          <a:prstGeom prst="rect">
            <a:avLst/>
          </a:prstGeom>
        </p:spPr>
      </p:pic>
      <p:pic>
        <p:nvPicPr>
          <p:cNvPr id="9" name="图片 8" descr="19点半-21点事件地点热力图"/>
          <p:cNvPicPr>
            <a:picLocks noChangeAspect="1"/>
          </p:cNvPicPr>
          <p:nvPr/>
        </p:nvPicPr>
        <p:blipFill>
          <a:blip r:embed="rId5"/>
          <a:srcRect r="9428"/>
          <a:stretch>
            <a:fillRect/>
          </a:stretch>
        </p:blipFill>
        <p:spPr>
          <a:xfrm>
            <a:off x="2065020" y="687705"/>
            <a:ext cx="5227955" cy="325501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 flipV="1">
            <a:off x="4211955" y="2997200"/>
            <a:ext cx="1482725" cy="287020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459480" y="5085080"/>
            <a:ext cx="2120900" cy="78867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8D5F1-DCA2-ACC4-4CD4-080EBB1E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C18F90-E34A-B5EF-68A4-9E65C2312B7D}"/>
              </a:ext>
            </a:extLst>
          </p:cNvPr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4F86FB3-AD1C-26ED-D15F-442E437FF52B}"/>
              </a:ext>
            </a:extLst>
          </p:cNvPr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78B40F-73BB-1595-3D8D-6B7D833CCA14}"/>
              </a:ext>
            </a:extLst>
          </p:cNvPr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FBD4FE-BE57-C331-C6DD-FF4D665F7C0D}"/>
              </a:ext>
            </a:extLst>
          </p:cNvPr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18EE7E-4272-EC14-7029-13E6BDB0FCF7}"/>
              </a:ext>
            </a:extLst>
          </p:cNvPr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zh-CN" altLang="en-US" sz="3200" b="1" dirty="0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8C6FB2-B149-BC0D-CEC3-B1B89FCFA14C}"/>
              </a:ext>
            </a:extLst>
          </p:cNvPr>
          <p:cNvSpPr txBox="1"/>
          <p:nvPr/>
        </p:nvSpPr>
        <p:spPr>
          <a:xfrm>
            <a:off x="683568" y="343680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 sz="10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最后是挑战三：应急队伍派遣规划，这一部分我们分为事后派驻和实时响应两种场景分析。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首先是事后回顾派驻：结合阿比拉全域事件风险热力图、聚类分布图，我们最终选择经度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24.85-24.86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、纬度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36.06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附近的中西部片区作为救援队伍派驻点。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选择理由有三点：第一，该区域综合风险全城最高，事件数量多、单起事件风险值突出，是风险最集中的核心区域；第二，从时序趋势来看，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之后全城风险陡增，而这片区域正是风险飙升的源头，在此布防能有效拦截高风险事件扩散；第三，对比不同时段数据，该片区前期事件数量较少，后期风险量级暴涨，风险增长幅度全城最大，优先派驻能最大程度降低整体损失。</a:t>
            </a:r>
          </a:p>
          <a:p>
            <a:endParaRPr lang="zh-CN" altLang="en-US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第二种场景是实时应急响应，我们选取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18:00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、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、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21:00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三个关键时间点动态调整部署方案：</a:t>
            </a:r>
          </a:p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18:00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时，全城东西两大片区风险都处于低位、走势平稳，我们仅分配少量人力，兼顾常规点位巡查即可；</a:t>
            </a: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到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，东部片区风险开始明显抬升，我们逐步增派主力力量，向该热点区域倾斜；</a:t>
            </a:r>
          </a:p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21:00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全城风险出现二次波动，我们将主力队伍留守核心高危区域，再抽调小部分人手，处置东部多个次级热点的零散事件，做到主次兼顾、全域覆盖。</a:t>
            </a:r>
          </a:p>
          <a:p>
            <a:endParaRPr lang="zh-CN" altLang="en-US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以上就是我们基于三组问题完成的全部可视化分析。综合整场事件来看，通过多维度图表，我们清晰区分了不同消息类型、完整还原风险演变规律，同时结合空间、时序数据完成了应急队伍的选址与动态调度。本次分析也让我们看到，在突发公共安全事件中，信息甄别、风险预判、动态布防三者缺一不可。</a:t>
            </a:r>
          </a:p>
          <a:p>
            <a:endParaRPr lang="zh-CN" altLang="en-US" sz="1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我们的汇报到此结束，感谢各位的聆听，也欢迎大家提出批评与指正！</a:t>
            </a:r>
          </a:p>
        </p:txBody>
      </p:sp>
    </p:spTree>
    <p:extLst>
      <p:ext uri="{BB962C8B-B14F-4D97-AF65-F5344CB8AC3E}">
        <p14:creationId xmlns:p14="http://schemas.microsoft.com/office/powerpoint/2010/main" val="2990781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4505" y="2853055"/>
            <a:ext cx="8175625" cy="178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8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感谢观看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4389</Words>
  <Application>Microsoft Office PowerPoint</Application>
  <PresentationFormat>全屏显示(4:3)</PresentationFormat>
  <Paragraphs>335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仿宋</vt:lpstr>
      <vt:lpstr>微软雅黑</vt:lpstr>
      <vt:lpstr>Arial</vt:lpstr>
      <vt:lpstr>Calibri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克轩 黄</cp:lastModifiedBy>
  <cp:revision>15</cp:revision>
  <dcterms:created xsi:type="dcterms:W3CDTF">2025-07-23T00:59:00Z</dcterms:created>
  <dcterms:modified xsi:type="dcterms:W3CDTF">2026-06-19T14:07:53Z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ECF81891365843119A1E500E7EF4D770_12</vt:lpwstr>
  </property>
</Properties>
</file>